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49AEF-395A-F762-A223-6109D8F2F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6716AE-0504-F3C7-62C0-A395DADAB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3AE812-399E-3DE6-18D1-154101C3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E70ECF-F8C5-A8E0-902E-EBD1FF05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CE787-2F71-1DEF-5C27-D86831C8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91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D6A82A-89A5-B342-65F7-669A9FF8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758464-751F-AB34-6022-5FE1C4C77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1B5F9F-53A3-75E9-19FE-76831B0CE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6EAF7-B7E0-D3D3-9B81-F6719955B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24E1A-49BC-E034-3A64-6FC938F6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576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59044-FDCA-66D4-11EB-509FB1FE4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9C6FF3-E5D7-26CF-4FA3-368345409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9F8A3-7410-FA1C-EAED-CF31CBCF6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9629D9-7838-2432-F425-31A706AA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889401-A88D-3838-FDF5-D3341A2B2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99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2ED36-C3D9-3507-174B-AA1ACA04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D74A99-1C6B-906D-4D39-D019F5709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DBA2F-A7D8-1C09-997D-362D86174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2319A-E9B0-D901-1591-CDCF1BEDE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DBCBF-EB2D-5744-A5E2-29200675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025683-A87F-F686-5C32-F596EC31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0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7BD56-96CE-1362-CD74-C157DD19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7A0EBB-58E8-179A-8F13-BD56DAED9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2BD454-FFAB-5E62-058E-8B495AE24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16EA22-193D-8B45-EEB6-E0DCCE45B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DFB8F1-E0C6-711B-60C2-1A4AB86EE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4DD215-0D81-B7FE-7057-D82B889B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949BAD-E0B5-5DAF-4E2C-F78EFA8B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218E5E-DD3D-8189-37DC-02172546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99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3EE52-8F08-BBB9-01C2-2DDE148A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E263E5-AEF3-DEA8-5212-3317081BF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129813-9D82-AD39-AF14-EECB171D1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E46AE-A3D4-5FCA-59A8-F8431821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51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C4B669-8714-9B4C-717A-DE8BD00E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438C16-57E1-85FC-C9E5-F30DC166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E79CD8-7592-D810-D181-2C3C0DBC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6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086CB-2D0B-8D0F-7A5F-7FD2DA76C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37B663-7317-2306-51A0-F31F6368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2D0731-D213-92DB-350A-0160F6BBF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C7742C-4EEA-944D-153E-8EDE0B390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A36263-DE76-94CE-ACD6-E6D9FB2D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9BF0A2-6EFC-4EBB-A6CA-1B3B2EB1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98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A1695-FD0F-39E8-A383-9A2EEDC6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ADFF63-4CF8-F1D5-087F-D87F4D2479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4A41C3-4FDA-DD85-5A7C-216F3BEB3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5B8206-CEB8-B246-3F8F-DBCE57FB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0A34D-C5E5-FC7F-8F11-2C1D8E63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19659E-2AF3-1FBF-37A8-8F0C54D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3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A967D-6B0D-675E-F586-86E7D68A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80D427-5E73-A1A3-0865-45155B2BB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6E231D-FD78-48DE-8BE3-A92B43EF3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6E7CA-17A6-5D47-3BC9-7B0A648F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4ACD9-43CF-4F9C-9907-14AC36391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20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184340-0BB1-32FC-4171-F4E1428F1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C0E48F-7B57-5DF9-15BB-FA20271E9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A213E8-F997-6CD2-7FFB-52CA5CBEF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6A3BD0-23F0-85A4-CD4E-2B84E004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791568-134A-9D9E-98D5-E6B9FEF2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31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1A5E3B-0425-E8A1-57D5-5EEC673F1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A0B150-EFE2-308D-E592-96FBB07B3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A6C45-5B40-051A-4CB4-98C2FA760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5D12F-7F6E-4D5B-A902-099FE0063D35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7B77D-D25E-8BDE-41B0-64706C983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A97957-C196-81CB-C77D-D48529EE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5673E-EAFE-4A61-9106-71ED7C161D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7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E62B9CE-54BD-F20F-88DA-42F0DEC2ED9D}"/>
              </a:ext>
            </a:extLst>
          </p:cNvPr>
          <p:cNvSpPr txBox="1"/>
          <p:nvPr/>
        </p:nvSpPr>
        <p:spPr>
          <a:xfrm>
            <a:off x="2361063" y="418889"/>
            <a:ext cx="7786047" cy="322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2800" b="1" dirty="0" err="1">
                <a:effectLst/>
                <a:latin typeface="Consolas" panose="020B0609020204030204" pitchFamily="49" charset="0"/>
              </a:rPr>
              <a:t>Name_tbd</a:t>
            </a:r>
            <a:r>
              <a:rPr lang="en-US" altLang="zh-CN" sz="2800" b="1" dirty="0">
                <a:effectLst/>
                <a:latin typeface="Consolas" panose="020B0609020204030204" pitchFamily="49" charset="0"/>
              </a:rPr>
              <a:t>:</a:t>
            </a:r>
            <a:r>
              <a:rPr lang="zh-CN" altLang="en-US" sz="2800" b="1" dirty="0">
                <a:effectLst/>
                <a:latin typeface="Consolas" panose="020B0609020204030204" pitchFamily="49" charset="0"/>
              </a:rPr>
              <a:t>基于波动方程的高光谱压缩感知重建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E24761-99C0-80D4-1818-A2510AD6B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991" y="3022185"/>
            <a:ext cx="6259596" cy="20331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7B6C38-A33C-3F35-520A-E9F215326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16" y="796818"/>
            <a:ext cx="6622835" cy="22253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A3A5EA-165D-43FC-5990-972001034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13" y="3022185"/>
            <a:ext cx="5683948" cy="256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6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8C5C-A49B-7D3E-8E7A-ED8D5E89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447666-D01C-EA98-84AF-C9AA171DA5B3}"/>
              </a:ext>
            </a:extLst>
          </p:cNvPr>
          <p:cNvGrpSpPr/>
          <p:nvPr/>
        </p:nvGrpSpPr>
        <p:grpSpPr>
          <a:xfrm>
            <a:off x="47767" y="3630304"/>
            <a:ext cx="6550926" cy="2333768"/>
            <a:chOff x="560775" y="1206829"/>
            <a:chExt cx="10691269" cy="399979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25F2134-D567-1419-E683-2249711749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0775" y="1206829"/>
              <a:ext cx="10691269" cy="3999792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3264058-98C8-67D4-71EA-A6F08857C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8179" y="1206829"/>
              <a:ext cx="913865" cy="964635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E349A1E0-57FF-5210-B369-DBC45BD7B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7" y="0"/>
            <a:ext cx="11976102" cy="363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5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08C0F-E4A7-F7AD-104C-FE3DCF53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17D499C-B0B1-292A-A6FA-327757FA0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51" y="504967"/>
            <a:ext cx="11645250" cy="528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4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90EA1-C7C5-581E-C5E8-E4491B3A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6486F4-626E-D1AC-9306-6336D784FD3C}"/>
                  </a:ext>
                </a:extLst>
              </p:cNvPr>
              <p:cNvSpPr txBox="1"/>
              <p:nvPr/>
            </p:nvSpPr>
            <p:spPr>
              <a:xfrm>
                <a:off x="168892" y="526908"/>
                <a:ext cx="1021705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en-US" b="1" dirty="0"/>
                  <a:t>核心观察</a:t>
                </a:r>
                <a:r>
                  <a:rPr lang="zh-CN" altLang="en-US" dirty="0"/>
                  <a:t>：高光谱数据的光谱维度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dirty="0"/>
                  <a:t> 本质上是电磁波的波长。既然我们处理的数据来源于物理波动，那么网络本身的 </a:t>
                </a:r>
                <a:r>
                  <a:rPr lang="en-US" altLang="zh-CN" dirty="0"/>
                  <a:t>token mixing </a:t>
                </a:r>
                <a:r>
                  <a:rPr lang="zh-CN" altLang="en-US" dirty="0"/>
                  <a:t>操作就应该遵循波动方程的传播规律。</a:t>
                </a:r>
                <a:endParaRPr lang="zh-CN" altLang="en-US" b="1" i="0" dirty="0">
                  <a:solidFill>
                    <a:srgbClr val="000000"/>
                  </a:solidFill>
                  <a:effectLst/>
                  <a:latin typeface="Helvetica Neue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6486F4-626E-D1AC-9306-6336D784F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92" y="526908"/>
                <a:ext cx="10217055" cy="646331"/>
              </a:xfrm>
              <a:prstGeom prst="rect">
                <a:avLst/>
              </a:prstGeom>
              <a:blipFill>
                <a:blip r:embed="rId2"/>
                <a:stretch>
                  <a:fillRect l="-537" t="-4717" r="-2685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D9D6DE1-F23F-192B-391E-8F28AA5416F3}"/>
              </a:ext>
            </a:extLst>
          </p:cNvPr>
          <p:cNvSpPr txBox="1"/>
          <p:nvPr/>
        </p:nvSpPr>
        <p:spPr>
          <a:xfrm>
            <a:off x="168892" y="91701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Helvetica Neue"/>
              </a:rPr>
              <a:t>本工作的动机与核心思路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376BE5-C7BB-D21D-F765-62AC92561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0" y="1704141"/>
            <a:ext cx="5058562" cy="187839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612E157-7CA8-477F-5969-AE105D3E96BC}"/>
              </a:ext>
            </a:extLst>
          </p:cNvPr>
          <p:cNvSpPr txBox="1"/>
          <p:nvPr/>
        </p:nvSpPr>
        <p:spPr>
          <a:xfrm>
            <a:off x="168891" y="1173239"/>
            <a:ext cx="10217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我的工作：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将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CASSI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重建建模为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Helvetica Neue"/>
              </a:rPr>
              <a:t>各向异性阻尼波在非均匀色散介质中的传播问题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，波动方程的频域闭式解天然取代了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self-attention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作为全局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token mixing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算子。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468C6C-2C67-F5EC-87A9-1419163FFAAE}"/>
              </a:ext>
            </a:extLst>
          </p:cNvPr>
          <p:cNvSpPr txBox="1"/>
          <p:nvPr/>
        </p:nvSpPr>
        <p:spPr>
          <a:xfrm>
            <a:off x="291722" y="3771672"/>
            <a:ext cx="6097136" cy="788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HSI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是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3D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数据：空间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×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空间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×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光谱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由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2D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空间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+ 1D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光谱通道组成，是三维数据立方体。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从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2D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压缩测量恢复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3D HSI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是典型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病态逆问题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3A939F-1FB3-FD99-2CA8-CF5C0E7FDE98}"/>
              </a:ext>
            </a:extLst>
          </p:cNvPr>
          <p:cNvSpPr txBox="1"/>
          <p:nvPr/>
        </p:nvSpPr>
        <p:spPr>
          <a:xfrm>
            <a:off x="5662115" y="3582536"/>
            <a:ext cx="6097136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光谱维度高度相关、相似、连续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不同波段之间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强相关、强相似、互补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光谱连续性远大于空间相关性，建模光谱依赖比空间更高效。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FDE77E7-6713-0F0F-2599-76D5DCDFFAA8}"/>
              </a:ext>
            </a:extLst>
          </p:cNvPr>
          <p:cNvSpPr txBox="1"/>
          <p:nvPr/>
        </p:nvSpPr>
        <p:spPr>
          <a:xfrm>
            <a:off x="291722" y="4556888"/>
            <a:ext cx="6097136" cy="788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CASSI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系统带来独特退化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经过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掩膜调制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色散偏移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通道压缩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变成单帧 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ui-sans-serif"/>
              </a:rPr>
              <a:t>2D 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测量。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部分波段出现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空间畸变、模糊、错位、信息缺失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21E14AC-8695-D1E6-214A-597CA02FB814}"/>
              </a:ext>
            </a:extLst>
          </p:cNvPr>
          <p:cNvSpPr txBox="1"/>
          <p:nvPr/>
        </p:nvSpPr>
        <p:spPr>
          <a:xfrm>
            <a:off x="5976013" y="4556888"/>
            <a:ext cx="6097136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光谱信息全局重要，局部空间差异显著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全局光谱相似性强，但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不同空间区域的光谱分布不同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传统注意力容易产生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均值效应（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Mean Effect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）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，抹平局部差异。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BD4E58-16EC-4FEC-09DD-4FD68893673E}"/>
              </a:ext>
            </a:extLst>
          </p:cNvPr>
          <p:cNvSpPr txBox="1"/>
          <p:nvPr/>
        </p:nvSpPr>
        <p:spPr>
          <a:xfrm>
            <a:off x="5636525" y="2444709"/>
            <a:ext cx="6097136" cy="788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HSI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空间稀疏、光谱稠密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空间信息冗余度高，光谱信息更关键、更稀疏珍贵。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建模空间依赖性价比低，建模光谱依赖性价比极高。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AACB34-8DDC-DCEE-7AB8-808E7DA8D033}"/>
              </a:ext>
            </a:extLst>
          </p:cNvPr>
          <p:cNvSpPr txBox="1"/>
          <p:nvPr/>
        </p:nvSpPr>
        <p:spPr>
          <a:xfrm>
            <a:off x="230306" y="5534638"/>
            <a:ext cx="6097136" cy="557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光谱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-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空间联合退化是耦合的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退化不是单一噪声，而是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混合空间错位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+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光谱混叠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A2419F-C15A-E57C-3BD2-940676FFCD08}"/>
              </a:ext>
            </a:extLst>
          </p:cNvPr>
          <p:cNvSpPr txBox="1"/>
          <p:nvPr/>
        </p:nvSpPr>
        <p:spPr>
          <a:xfrm>
            <a:off x="5970894" y="5684761"/>
            <a:ext cx="6097136" cy="557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注意力存在大量无关特征与噪声</a:t>
            </a:r>
            <a:endParaRPr lang="zh-CN" altLang="en-US" b="0" dirty="0">
              <a:solidFill>
                <a:srgbClr val="000000"/>
              </a:solidFill>
              <a:effectLst/>
              <a:latin typeface="ui-sans-serif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传统自注意力包含大量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ui-sans-serif"/>
              </a:rPr>
              <a:t>无效相似性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  <a:t>，需要过滤。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63B243-4F92-0B91-1449-945195887D6C}"/>
              </a:ext>
            </a:extLst>
          </p:cNvPr>
          <p:cNvSpPr txBox="1"/>
          <p:nvPr/>
        </p:nvSpPr>
        <p:spPr>
          <a:xfrm>
            <a:off x="5510237" y="1821655"/>
            <a:ext cx="45929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以下摘自各个</a:t>
            </a:r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his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重构的论文</a:t>
            </a:r>
          </a:p>
        </p:txBody>
      </p:sp>
    </p:spTree>
    <p:extLst>
      <p:ext uri="{BB962C8B-B14F-4D97-AF65-F5344CB8AC3E}">
        <p14:creationId xmlns:p14="http://schemas.microsoft.com/office/powerpoint/2010/main" val="314663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793A-8125-11BA-40A6-0A8BFEC3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CD9436-E0EC-7164-17B5-4CE3919929C9}"/>
              </a:ext>
            </a:extLst>
          </p:cNvPr>
          <p:cNvSpPr txBox="1"/>
          <p:nvPr/>
        </p:nvSpPr>
        <p:spPr>
          <a:xfrm>
            <a:off x="3896436" y="832513"/>
            <a:ext cx="240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物理基础，见</a:t>
            </a:r>
            <a:r>
              <a:rPr lang="en-US" altLang="zh-CN" dirty="0"/>
              <a:t>oom.md</a:t>
            </a:r>
          </a:p>
        </p:txBody>
      </p:sp>
    </p:spTree>
    <p:extLst>
      <p:ext uri="{BB962C8B-B14F-4D97-AF65-F5344CB8AC3E}">
        <p14:creationId xmlns:p14="http://schemas.microsoft.com/office/powerpoint/2010/main" val="1469615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8602C3-1171-A52B-FFED-C8FEC9861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39606" cy="6776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E911103-7C4E-8A5F-A60F-7BC6EDC723BA}"/>
              </a:ext>
            </a:extLst>
          </p:cNvPr>
          <p:cNvPicPr>
            <a:picLocks/>
          </p:cNvPicPr>
          <p:nvPr/>
        </p:nvPicPr>
        <p:blipFill>
          <a:blip r:embed="rId3"/>
          <a:srcRect t="20892" b="12433"/>
          <a:stretch>
            <a:fillRect/>
          </a:stretch>
        </p:blipFill>
        <p:spPr>
          <a:xfrm>
            <a:off x="3214047" y="810628"/>
            <a:ext cx="8591266" cy="78293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D61F1BA-E36A-C4E8-5491-1AF6BA54CAEC}"/>
              </a:ext>
            </a:extLst>
          </p:cNvPr>
          <p:cNvSpPr txBox="1"/>
          <p:nvPr/>
        </p:nvSpPr>
        <p:spPr>
          <a:xfrm>
            <a:off x="7768941" y="1656315"/>
            <a:ext cx="3717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并在网络中增</a:t>
            </a:r>
            <a:r>
              <a:rPr lang="en-US" altLang="zh-CN" dirty="0"/>
              <a:t>mask</a:t>
            </a:r>
            <a:r>
              <a:rPr lang="zh-CN" altLang="en-US" dirty="0"/>
              <a:t>软门控</a:t>
            </a:r>
            <a:endParaRPr lang="en-US" altLang="zh-CN" dirty="0"/>
          </a:p>
          <a:p>
            <a:r>
              <a:rPr lang="zh-CN" altLang="en-US" dirty="0"/>
              <a:t>色散关系增强，对应不同介质速度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4017467-E97F-3824-C81C-EB6B70453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03234"/>
              </p:ext>
            </p:extLst>
          </p:nvPr>
        </p:nvGraphicFramePr>
        <p:xfrm>
          <a:off x="5152030" y="2414010"/>
          <a:ext cx="5131558" cy="3671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133">
                  <a:extLst>
                    <a:ext uri="{9D8B030D-6E8A-4147-A177-3AD203B41FA5}">
                      <a16:colId xmlns:a16="http://schemas.microsoft.com/office/drawing/2014/main" val="1792396479"/>
                    </a:ext>
                  </a:extLst>
                </a:gridCol>
                <a:gridCol w="2702425">
                  <a:extLst>
                    <a:ext uri="{9D8B030D-6E8A-4147-A177-3AD203B41FA5}">
                      <a16:colId xmlns:a16="http://schemas.microsoft.com/office/drawing/2014/main" val="1931209579"/>
                    </a:ext>
                  </a:extLst>
                </a:gridCol>
              </a:tblGrid>
              <a:tr h="688426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Mask</a:t>
                      </a:r>
                      <a:r>
                        <a:rPr lang="zh-CN" altLang="en-US" sz="1600" dirty="0"/>
                        <a:t>软门控</a:t>
                      </a:r>
                      <a:endParaRPr lang="en-US" altLang="zh-CN" sz="1600" dirty="0"/>
                    </a:p>
                    <a:p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将掩模作为初始场的</a:t>
                      </a:r>
                      <a:r>
                        <a:rPr lang="en-US" altLang="zh-CN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激发强度</a:t>
                      </a:r>
                      <a:r>
                        <a:rPr lang="en-US" altLang="zh-CN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en-US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调制器：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34.7db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0.9432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0.1343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48989"/>
                  </a:ext>
                </a:extLst>
              </a:tr>
              <a:tr h="892404"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Mask</a:t>
                      </a:r>
                      <a:r>
                        <a:rPr lang="zh-CN" altLang="en-US" sz="1600" dirty="0"/>
                        <a:t>波源</a:t>
                      </a:r>
                      <a:endParaRPr lang="en-US" altLang="zh-CN" sz="1600" dirty="0"/>
                    </a:p>
                    <a:p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将掩模引入波动方程的右端项，构成非齐次波动方程、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33.8</a:t>
                      </a:r>
                      <a:r>
                        <a:rPr lang="zh-CN" altLang="en-US" sz="1600" dirty="0"/>
                        <a:t>，</a:t>
                      </a:r>
                      <a:r>
                        <a:rPr lang="en-US" altLang="zh-CN" sz="1600" dirty="0"/>
                        <a:t>bad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814384"/>
                  </a:ext>
                </a:extLst>
              </a:tr>
              <a:tr h="1158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Klein-Gordon Born</a:t>
                      </a:r>
                      <a:r>
                        <a:rPr lang="zh-CN" alt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修正</a:t>
                      </a:r>
                    </a:p>
                    <a:p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借鉴了量子场论中的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Klein-Gordon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方程，引入位置依赖的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质量</a:t>
                      </a:r>
                      <a:r>
                        <a:rPr lang="en-US" altLang="zh-CN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zh-CN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</a:t>
                      </a:r>
                      <a:endParaRPr lang="zh-CN" altLang="en-US" sz="1600" dirty="0"/>
                    </a:p>
                    <a:p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887024"/>
                  </a:ext>
                </a:extLst>
              </a:tr>
              <a:tr h="4708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/>
                        <a:t>Mask</a:t>
                      </a:r>
                      <a:r>
                        <a:rPr lang="zh-CN" altLang="en-US" sz="1600" dirty="0"/>
                        <a:t>软门控</a:t>
                      </a:r>
                      <a:r>
                        <a:rPr lang="en-US" altLang="zh-CN" sz="1600" dirty="0"/>
                        <a:t>+</a:t>
                      </a:r>
                      <a:r>
                        <a:rPr lang="zh-CN" altLang="en-US" sz="1600" dirty="0"/>
                        <a:t>色散增强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99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704C363-D6D1-B607-8206-C8CC2174C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8" y="1054217"/>
            <a:ext cx="9793609" cy="35041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83657F-A167-34C6-1ABE-60924AFA3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574" y="1057804"/>
            <a:ext cx="1440924" cy="16354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2CC6A58-AA6D-F099-9DFA-846BDB6E08E9}"/>
              </a:ext>
            </a:extLst>
          </p:cNvPr>
          <p:cNvSpPr txBox="1"/>
          <p:nvPr/>
        </p:nvSpPr>
        <p:spPr>
          <a:xfrm>
            <a:off x="7554036" y="6268489"/>
            <a:ext cx="436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注意这是老图，实际上已经加了色散模块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2CEC3C9-0486-9A0B-45DC-176528689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144" y="4332198"/>
            <a:ext cx="12192000" cy="14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7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1BF7F84-3507-BAB0-111C-113119C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296"/>
            <a:ext cx="12192000" cy="448470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2D6CA7C-7037-BDE3-4E92-90807594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530" y="0"/>
            <a:ext cx="707619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A226D23-71F7-DC86-5AC8-CF57382E8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85677" cy="653045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8650188-4762-BD1F-3C1B-721F6B8FC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612" y="1519956"/>
            <a:ext cx="7714141" cy="379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09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CFA590-78DD-F13A-56C9-E2FD60A5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37"/>
            <a:ext cx="12192000" cy="67712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EC2135-B8DB-B6EE-F7EC-F12D5418B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789" y="2146674"/>
            <a:ext cx="7873773" cy="297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98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F65869-FC4E-2600-5A07-3BA072168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39"/>
            <a:ext cx="12192000" cy="65979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ECFEE6D-58C7-5E31-983B-E952140F3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749" y="1166985"/>
            <a:ext cx="2386084" cy="270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19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E62316-CE46-92EE-1823-058863BB9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34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422</Words>
  <Application>Microsoft Office PowerPoint</Application>
  <PresentationFormat>宽屏</PresentationFormat>
  <Paragraphs>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Helvetica Neue</vt:lpstr>
      <vt:lpstr>ui-sans-serif</vt:lpstr>
      <vt:lpstr>等线</vt:lpstr>
      <vt:lpstr>等线 Light</vt:lpstr>
      <vt:lpstr>Arial</vt:lpstr>
      <vt:lpstr>Cambria Math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XWJ</dc:creator>
  <cp:lastModifiedBy>XWJ</cp:lastModifiedBy>
  <cp:revision>4</cp:revision>
  <dcterms:created xsi:type="dcterms:W3CDTF">2026-05-16T08:25:36Z</dcterms:created>
  <dcterms:modified xsi:type="dcterms:W3CDTF">2026-05-17T09:22:00Z</dcterms:modified>
</cp:coreProperties>
</file>